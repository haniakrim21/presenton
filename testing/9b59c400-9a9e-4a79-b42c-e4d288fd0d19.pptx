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Nepal is a small, landlocked country located in South Asia, bordered by China to the north and India to the south, east, and west. It's especially famous for being home to the Himalayas, including Mount Everest, and is celebrated for its remarkable natural beauty, variety of cultures, and ancient traditions that continue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Nepal is a diverse country, both in terrain and culture. Most of its area is mountainous, highlighted by Mount Everest, the world’s highest peak. The capital city Kathmandu serves as the primary urban center. Conservation is significant, with national parks protecting a large portion of the country.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Nepal stands out for its wide array of ethnicities and languages, making it incredibly diverse. The country is home to major religions like Hinduism, Buddhism, and Islam, which coexist peacefully. Key festivals and world-famous sites like Kathmandu Durbar Square and Lumbini add further depth to Nepal’s cultural significance.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Nepal has a projected GDP of $41.7 billion in 2025. Agriculture comprises nearly a quarter of the economy, serving as a backbone for livelihoods. Tourism is another key contributor, with more than 1.2 million annual visitors and over 35,000 trekkers visiting the Everest region alone. Overall, tourism is responsible for about 7% of the nation’s GDP.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Nepal stands out for more than just its breathtaking mountains. It's a unique mix of adventure, spiritual depth, and cultural richness. The country continues to modernize, bringing electricity and digital access to almost all its people. What truly sets Nepal apart is the warmth and resilience of its communities, making it a welcoming place for all.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43000" y="2819400"/>
            <a:ext cx="5867400" cy="558800"/>
          </a:xfrm>
          <a:prstGeom prst="rect">
            <a:avLst/>
          </a:prstGeom>
          <a:noFill/>
        </p:spPr>
        <p:txBody>
          <a:bodyPr wrap="square" lIns="0" rIns="0" tIns="0" bIns="0">
            <a:spAutoFit/>
          </a:bodyPr>
          <a:lstStyle/>
          <a:p>
            <a:pPr algn="l">
              <a:lnSpc>
                <a:spcPct val="73000"/>
              </a:lnSpc>
              <a:defRPr i="0" sz="4300" b="1">
                <a:solidFill>
                  <a:srgbClr val="000000"/>
                </a:solidFill>
                <a:latin typeface="Albert Sans"/>
              </a:defRPr>
            </a:pPr>
            <a:r>
              <a:rPr i="0" sz="4300" b="1">
                <a:solidFill>
                  <a:srgbClr val="000000"/>
                </a:solidFill>
                <a:latin typeface="Albert Sans"/>
              </a:rPr>
              <a:t>Introduction to Nepal</a:t>
            </a:r>
          </a:p>
        </p:txBody>
      </p:sp>
      <p:sp>
        <p:nvSpPr>
          <p:cNvPr id="3" name="TextBox 2"/>
          <p:cNvSpPr txBox="1"/>
          <p:nvPr/>
        </p:nvSpPr>
        <p:spPr>
          <a:xfrm>
            <a:off x="1143000" y="3568700"/>
            <a:ext cx="5867400" cy="1447800"/>
          </a:xfrm>
          <a:prstGeom prst="rect">
            <a:avLst/>
          </a:prstGeom>
          <a:noFill/>
        </p:spPr>
        <p:txBody>
          <a:bodyPr wrap="square" lIns="0" rIns="0" tIns="0" bIns="0">
            <a:spAutoFit/>
          </a:bodyPr>
          <a:lstStyle/>
          <a:p>
            <a:pPr algn="l">
              <a:lnSpc>
                <a:spcPct val="148000"/>
              </a:lnSpc>
              <a:defRPr i="0" sz="1600" b="0">
                <a:solidFill>
                  <a:srgbClr val="000000"/>
                </a:solidFill>
                <a:latin typeface="Albert Sans"/>
              </a:defRPr>
            </a:pPr>
            <a:r>
              <a:rPr i="0" sz="1600" b="0">
                <a:solidFill>
                  <a:srgbClr val="000000"/>
                </a:solidFill>
                <a:latin typeface="Albert Sans"/>
              </a:rPr>
              <a:t>Nestled between China and India in the Himalayas, Nepal captivates with diverse cultures, breathtaking scenery, and rich history. This unique nation attracts travelers worldwide for its majestic mountains and vibrant heritage.</a:t>
            </a:r>
          </a:p>
        </p:txBody>
      </p:sp>
      <p:pic>
        <p:nvPicPr>
          <p:cNvPr id="4" name="Picture 3" descr="14a528bf-cf4b-428b-aecf-8f0968ed6341.png"/>
          <p:cNvPicPr>
            <a:picLocks noChangeAspect="1"/>
          </p:cNvPicPr>
          <p:nvPr/>
        </p:nvPicPr>
        <p:blipFill>
          <a:blip r:embed="rId3"/>
          <a:stretch>
            <a:fillRect/>
          </a:stretch>
        </p:blipFill>
        <p:spPr>
          <a:xfrm>
            <a:off x="8178800" y="393700"/>
            <a:ext cx="6743700" cy="7200900"/>
          </a:xfrm>
          <a:prstGeom prst="rect">
            <a:avLst/>
          </a:prstGeom>
        </p:spPr>
      </p:pic>
      <p:sp>
        <p:nvSpPr>
          <p:cNvPr id="5" name="Rounded Rectangle 4"/>
          <p:cNvSpPr/>
          <p:nvPr/>
        </p:nvSpPr>
        <p:spPr>
          <a:xfrm>
            <a:off x="914400" y="8445500"/>
            <a:ext cx="13550900" cy="50800"/>
          </a:xfrm>
          <a:prstGeom prst="roundRect">
            <a:avLst>
              <a:gd name="adj" fmla="val 100000"/>
            </a:avLst>
          </a:prstGeom>
          <a:solidFill>
            <a:srgbClr val="55626E"/>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ounded Rectangle 5"/>
          <p:cNvSpPr/>
          <p:nvPr/>
        </p:nvSpPr>
        <p:spPr>
          <a:xfrm>
            <a:off x="14414500" y="8102600"/>
            <a:ext cx="736600" cy="736600"/>
          </a:xfrm>
          <a:prstGeom prst="roundRect">
            <a:avLst>
              <a:gd name="adj" fmla="val 6896"/>
            </a:avLst>
          </a:prstGeom>
          <a:solidFill>
            <a:srgbClr val="4D54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4cc4626d-e599-4e51-b0f1-b091d6de141e.png"/>
          <p:cNvPicPr>
            <a:picLocks noChangeAspect="1"/>
          </p:cNvPicPr>
          <p:nvPr/>
        </p:nvPicPr>
        <p:blipFill>
          <a:blip r:embed="rId3"/>
          <a:stretch>
            <a:fillRect/>
          </a:stretch>
        </p:blipFill>
        <p:spPr>
          <a:xfrm>
            <a:off x="825500" y="2235200"/>
            <a:ext cx="228600" cy="228600"/>
          </a:xfrm>
          <a:prstGeom prst="rect">
            <a:avLst/>
          </a:prstGeom>
        </p:spPr>
      </p:pic>
      <p:sp>
        <p:nvSpPr>
          <p:cNvPr id="3" name="TextBox 2"/>
          <p:cNvSpPr txBox="1"/>
          <p:nvPr/>
        </p:nvSpPr>
        <p:spPr>
          <a:xfrm>
            <a:off x="914400" y="2413000"/>
            <a:ext cx="6083300" cy="1193800"/>
          </a:xfrm>
          <a:prstGeom prst="rect">
            <a:avLst/>
          </a:prstGeom>
          <a:noFill/>
        </p:spPr>
        <p:txBody>
          <a:bodyPr wrap="square" lIns="0" rIns="0" tIns="0" bIns="0">
            <a:spAutoFit/>
          </a:bodyPr>
          <a:lstStyle/>
          <a:p>
            <a:pPr algn="l">
              <a:lnSpc>
                <a:spcPct val="80000"/>
              </a:lnSpc>
              <a:defRPr i="0" sz="4300" b="1">
                <a:solidFill>
                  <a:srgbClr val="000000"/>
                </a:solidFill>
                <a:latin typeface="Albert Sans"/>
              </a:defRPr>
            </a:pPr>
            <a:r>
              <a:rPr i="0" sz="4300" b="1">
                <a:solidFill>
                  <a:srgbClr val="000000"/>
                </a:solidFill>
                <a:latin typeface="Albert Sans"/>
              </a:rPr>
              <a:t>Geographical Highlights of Nepal</a:t>
            </a:r>
          </a:p>
        </p:txBody>
      </p:sp>
      <p:sp>
        <p:nvSpPr>
          <p:cNvPr id="4" name="TextBox 3"/>
          <p:cNvSpPr txBox="1"/>
          <p:nvPr/>
        </p:nvSpPr>
        <p:spPr>
          <a:xfrm>
            <a:off x="914400" y="3962400"/>
            <a:ext cx="6083300" cy="1079500"/>
          </a:xfrm>
          <a:prstGeom prst="rect">
            <a:avLst/>
          </a:prstGeom>
          <a:noFill/>
        </p:spPr>
        <p:txBody>
          <a:bodyPr wrap="square" lIns="0" rIns="0" tIns="0" bIns="0">
            <a:spAutoFit/>
          </a:bodyPr>
          <a:lstStyle/>
          <a:p>
            <a:pPr algn="l">
              <a:lnSpc>
                <a:spcPct val="148000"/>
              </a:lnSpc>
              <a:defRPr i="0" sz="1600" b="0">
                <a:solidFill>
                  <a:srgbClr val="000000"/>
                </a:solidFill>
                <a:latin typeface="Albert Sans"/>
              </a:defRPr>
            </a:pPr>
            <a:r>
              <a:rPr i="0" sz="1600" b="0">
                <a:solidFill>
                  <a:srgbClr val="000000"/>
                </a:solidFill>
                <a:latin typeface="Albert Sans"/>
              </a:rPr>
              <a:t>Nepal covers 147,516 sq. km with a population of 30.5M (2025 est.). The country is known for its dramatic landscape, with hills and mountains making up over 80% of its area.</a:t>
            </a:r>
          </a:p>
        </p:txBody>
      </p:sp>
      <p:sp>
        <p:nvSpPr>
          <p:cNvPr id="5" name="Rounded Rectangle 4"/>
          <p:cNvSpPr/>
          <p:nvPr/>
        </p:nvSpPr>
        <p:spPr>
          <a:xfrm>
            <a:off x="9436100" y="3200400"/>
            <a:ext cx="5715000" cy="12700"/>
          </a:xfrm>
          <a:prstGeom prst="roundRect">
            <a:avLst>
              <a:gd name="adj" fmla="val 400000"/>
            </a:avLst>
          </a:prstGeom>
          <a:solidFill>
            <a:srgbClr val="DCE2F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ounded Rectangle 5"/>
          <p:cNvSpPr/>
          <p:nvPr/>
        </p:nvSpPr>
        <p:spPr>
          <a:xfrm>
            <a:off x="9436100" y="3568700"/>
            <a:ext cx="101600" cy="101600"/>
          </a:xfrm>
          <a:prstGeom prst="roundRect">
            <a:avLst>
              <a:gd name="adj" fmla="val 50000"/>
            </a:avLst>
          </a:prstGeom>
          <a:solidFill>
            <a:srgbClr val="4D54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9791700" y="3467100"/>
            <a:ext cx="5384800" cy="393700"/>
          </a:xfrm>
          <a:prstGeom prst="rect">
            <a:avLst/>
          </a:prstGeom>
          <a:noFill/>
        </p:spPr>
        <p:txBody>
          <a:bodyPr wrap="square" lIns="0" rIns="0" tIns="0" bIns="0">
            <a:spAutoFit/>
          </a:bodyPr>
          <a:lstStyle/>
          <a:p>
            <a:pPr algn="l">
              <a:defRPr i="0" sz="2100" b="1">
                <a:solidFill>
                  <a:srgbClr val="000000"/>
                </a:solidFill>
                <a:latin typeface="Albert Sans"/>
              </a:defRPr>
            </a:pPr>
            <a:r>
              <a:rPr i="0" sz="2100" b="1">
                <a:solidFill>
                  <a:srgbClr val="000000"/>
                </a:solidFill>
                <a:latin typeface="Albert Sans"/>
              </a:rPr>
              <a:t>Capital and Elevation</a:t>
            </a:r>
          </a:p>
        </p:txBody>
      </p:sp>
      <p:sp>
        <p:nvSpPr>
          <p:cNvPr id="8" name="TextBox 7"/>
          <p:cNvSpPr txBox="1"/>
          <p:nvPr/>
        </p:nvSpPr>
        <p:spPr>
          <a:xfrm>
            <a:off x="9791700" y="3911600"/>
            <a:ext cx="5384800" cy="469900"/>
          </a:xfrm>
          <a:prstGeom prst="rect">
            <a:avLst/>
          </a:prstGeom>
          <a:noFill/>
        </p:spPr>
        <p:txBody>
          <a:bodyPr wrap="square" lIns="0" rIns="0" tIns="0" bIns="0">
            <a:spAutoFit/>
          </a:bodyPr>
          <a:lstStyle/>
          <a:p>
            <a:pPr algn="l">
              <a:lnSpc>
                <a:spcPct val="110000"/>
              </a:lnSpc>
              <a:defRPr i="0" sz="1300" b="0">
                <a:solidFill>
                  <a:srgbClr val="4D5463"/>
                </a:solidFill>
                <a:latin typeface="Albert Sans"/>
              </a:defRPr>
            </a:pPr>
            <a:r>
              <a:rPr i="0" sz="1300" b="0">
                <a:solidFill>
                  <a:srgbClr val="4D5463"/>
                </a:solidFill>
                <a:latin typeface="Albert Sans"/>
              </a:rPr>
              <a:t>Kathmandu is the capital, while Mount Everest rises to 8,848m as the highest point.</a:t>
            </a:r>
          </a:p>
        </p:txBody>
      </p:sp>
      <p:sp>
        <p:nvSpPr>
          <p:cNvPr id="9" name="Rounded Rectangle 8"/>
          <p:cNvSpPr/>
          <p:nvPr/>
        </p:nvSpPr>
        <p:spPr>
          <a:xfrm>
            <a:off x="9436100" y="4635500"/>
            <a:ext cx="5715000" cy="12700"/>
          </a:xfrm>
          <a:prstGeom prst="roundRect">
            <a:avLst>
              <a:gd name="adj" fmla="val 400000"/>
            </a:avLst>
          </a:prstGeom>
          <a:solidFill>
            <a:srgbClr val="DCE2F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Rounded Rectangle 9"/>
          <p:cNvSpPr/>
          <p:nvPr/>
        </p:nvSpPr>
        <p:spPr>
          <a:xfrm>
            <a:off x="9436100" y="5003800"/>
            <a:ext cx="101600" cy="101600"/>
          </a:xfrm>
          <a:prstGeom prst="roundRect">
            <a:avLst>
              <a:gd name="adj" fmla="val 50000"/>
            </a:avLst>
          </a:prstGeom>
          <a:solidFill>
            <a:srgbClr val="4D54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9791700" y="4902200"/>
            <a:ext cx="4495800" cy="393700"/>
          </a:xfrm>
          <a:prstGeom prst="rect">
            <a:avLst/>
          </a:prstGeom>
          <a:noFill/>
        </p:spPr>
        <p:txBody>
          <a:bodyPr wrap="square" lIns="0" rIns="0" tIns="0" bIns="0">
            <a:spAutoFit/>
          </a:bodyPr>
          <a:lstStyle/>
          <a:p>
            <a:pPr algn="l">
              <a:defRPr i="0" sz="2100" b="1">
                <a:solidFill>
                  <a:srgbClr val="000000"/>
                </a:solidFill>
                <a:latin typeface="Albert Sans"/>
              </a:defRPr>
            </a:pPr>
            <a:r>
              <a:rPr i="0" sz="2100" b="1">
                <a:solidFill>
                  <a:srgbClr val="000000"/>
                </a:solidFill>
                <a:latin typeface="Albert Sans"/>
              </a:rPr>
              <a:t>Protected Land</a:t>
            </a:r>
          </a:p>
        </p:txBody>
      </p:sp>
      <p:sp>
        <p:nvSpPr>
          <p:cNvPr id="12" name="TextBox 11"/>
          <p:cNvSpPr txBox="1"/>
          <p:nvPr/>
        </p:nvSpPr>
        <p:spPr>
          <a:xfrm>
            <a:off x="9791700" y="5334000"/>
            <a:ext cx="4495800" cy="228600"/>
          </a:xfrm>
          <a:prstGeom prst="rect">
            <a:avLst/>
          </a:prstGeom>
          <a:noFill/>
        </p:spPr>
        <p:txBody>
          <a:bodyPr wrap="square" lIns="0" rIns="0" tIns="0" bIns="0">
            <a:spAutoFit/>
          </a:bodyPr>
          <a:lstStyle/>
          <a:p>
            <a:pPr algn="l">
              <a:defRPr i="0" sz="1300" b="0">
                <a:solidFill>
                  <a:srgbClr val="4D5463"/>
                </a:solidFill>
                <a:latin typeface="Albert Sans"/>
              </a:defRPr>
            </a:pPr>
            <a:r>
              <a:rPr i="0" sz="1300" b="0">
                <a:solidFill>
                  <a:srgbClr val="4D5463"/>
                </a:solidFill>
                <a:latin typeface="Albert Sans"/>
              </a:rPr>
              <a:t>12 national parks safeguard more than 23% of the territory.</a:t>
            </a:r>
          </a:p>
        </p:txBody>
      </p:sp>
      <p:sp>
        <p:nvSpPr>
          <p:cNvPr id="13" name="Rounded Rectangle 12"/>
          <p:cNvSpPr/>
          <p:nvPr/>
        </p:nvSpPr>
        <p:spPr>
          <a:xfrm>
            <a:off x="9436100" y="5829300"/>
            <a:ext cx="5715000" cy="12700"/>
          </a:xfrm>
          <a:prstGeom prst="roundRect">
            <a:avLst>
              <a:gd name="adj" fmla="val 400000"/>
            </a:avLst>
          </a:prstGeom>
          <a:solidFill>
            <a:srgbClr val="DCE2F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914400" y="8267700"/>
            <a:ext cx="2044700" cy="304800"/>
          </a:xfrm>
          <a:prstGeom prst="rect">
            <a:avLst/>
          </a:prstGeom>
          <a:noFill/>
        </p:spPr>
        <p:txBody>
          <a:bodyPr wrap="square" lIns="0" rIns="0" tIns="0" bIns="0">
            <a:spAutoFit/>
          </a:bodyPr>
          <a:lstStyle/>
          <a:p>
            <a:pPr algn="l">
              <a:defRPr i="0" sz="1600" b="0">
                <a:solidFill>
                  <a:srgbClr val="000000"/>
                </a:solidFill>
                <a:latin typeface="Albert Sans"/>
              </a:defRPr>
            </a:pPr>
            <a:r>
              <a:rPr i="0" sz="1600" b="0">
                <a:solidFill>
                  <a:srgbClr val="000000"/>
                </a:solidFill>
                <a:latin typeface="Albert Sans"/>
              </a:rPr>
              <a:t>www.nepalinfo.gov.np</a:t>
            </a:r>
          </a:p>
        </p:txBody>
      </p:sp>
      <p:sp>
        <p:nvSpPr>
          <p:cNvPr id="15" name="Rounded Rectangle 14"/>
          <p:cNvSpPr/>
          <p:nvPr/>
        </p:nvSpPr>
        <p:spPr>
          <a:xfrm>
            <a:off x="3187700" y="8394700"/>
            <a:ext cx="10972800" cy="38100"/>
          </a:xfrm>
          <a:prstGeom prst="roundRect">
            <a:avLst>
              <a:gd name="adj" fmla="val 133333"/>
            </a:avLst>
          </a:prstGeom>
          <a:solidFill>
            <a:srgbClr val="55626E"/>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6" name="Picture 15" descr="ecdf211f-1974-4438-9abc-b966d394a9b7.png"/>
          <p:cNvPicPr>
            <a:picLocks noChangeAspect="1"/>
          </p:cNvPicPr>
          <p:nvPr/>
        </p:nvPicPr>
        <p:blipFill>
          <a:blip r:embed="rId4"/>
          <a:stretch>
            <a:fillRect/>
          </a:stretch>
        </p:blipFill>
        <p:spPr>
          <a:xfrm>
            <a:off x="14414500" y="8039100"/>
            <a:ext cx="736600" cy="7366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4cc4626d-e599-4e51-b0f1-b091d6de141e.png"/>
          <p:cNvPicPr>
            <a:picLocks noChangeAspect="1"/>
          </p:cNvPicPr>
          <p:nvPr/>
        </p:nvPicPr>
        <p:blipFill>
          <a:blip r:embed="rId3"/>
          <a:stretch>
            <a:fillRect/>
          </a:stretch>
        </p:blipFill>
        <p:spPr>
          <a:xfrm>
            <a:off x="825500" y="2235200"/>
            <a:ext cx="228600" cy="228600"/>
          </a:xfrm>
          <a:prstGeom prst="rect">
            <a:avLst/>
          </a:prstGeom>
        </p:spPr>
      </p:pic>
      <p:sp>
        <p:nvSpPr>
          <p:cNvPr id="3" name="TextBox 2"/>
          <p:cNvSpPr txBox="1"/>
          <p:nvPr/>
        </p:nvSpPr>
        <p:spPr>
          <a:xfrm>
            <a:off x="914400" y="2413000"/>
            <a:ext cx="6083300" cy="596900"/>
          </a:xfrm>
          <a:prstGeom prst="rect">
            <a:avLst/>
          </a:prstGeom>
          <a:noFill/>
        </p:spPr>
        <p:txBody>
          <a:bodyPr wrap="square" lIns="0" rIns="0" tIns="0" bIns="0">
            <a:spAutoFit/>
          </a:bodyPr>
          <a:lstStyle/>
          <a:p>
            <a:pPr algn="l">
              <a:lnSpc>
                <a:spcPct val="80000"/>
              </a:lnSpc>
              <a:defRPr i="0" sz="4300" b="1">
                <a:solidFill>
                  <a:srgbClr val="000000"/>
                </a:solidFill>
                <a:latin typeface="Albert Sans"/>
              </a:defRPr>
            </a:pPr>
            <a:r>
              <a:rPr i="0" sz="4300" b="1">
                <a:solidFill>
                  <a:srgbClr val="000000"/>
                </a:solidFill>
                <a:latin typeface="Albert Sans"/>
              </a:rPr>
              <a:t>Cultural Richness</a:t>
            </a:r>
          </a:p>
        </p:txBody>
      </p:sp>
      <p:sp>
        <p:nvSpPr>
          <p:cNvPr id="4" name="TextBox 3"/>
          <p:cNvSpPr txBox="1"/>
          <p:nvPr/>
        </p:nvSpPr>
        <p:spPr>
          <a:xfrm>
            <a:off x="914400" y="3365500"/>
            <a:ext cx="6083300" cy="1447800"/>
          </a:xfrm>
          <a:prstGeom prst="rect">
            <a:avLst/>
          </a:prstGeom>
          <a:noFill/>
        </p:spPr>
        <p:txBody>
          <a:bodyPr wrap="square" lIns="0" rIns="0" tIns="0" bIns="0">
            <a:spAutoFit/>
          </a:bodyPr>
          <a:lstStyle/>
          <a:p>
            <a:pPr algn="l">
              <a:lnSpc>
                <a:spcPct val="148000"/>
              </a:lnSpc>
              <a:defRPr i="0" sz="1600" b="0">
                <a:solidFill>
                  <a:srgbClr val="000000"/>
                </a:solidFill>
                <a:latin typeface="Albert Sans"/>
              </a:defRPr>
            </a:pPr>
            <a:r>
              <a:rPr i="0" sz="1600" b="0">
                <a:solidFill>
                  <a:srgbClr val="000000"/>
                </a:solidFill>
                <a:latin typeface="Albert Sans"/>
              </a:rPr>
              <a:t>Nepal exhibits remarkable diversity with over 120 ethnic communities and 123 languages, reflecting a rich cultural mosaic infused by major religions, vibrant festivals, and iconic heritage sites.</a:t>
            </a:r>
          </a:p>
        </p:txBody>
      </p:sp>
      <p:sp>
        <p:nvSpPr>
          <p:cNvPr id="5" name="Rounded Rectangle 4"/>
          <p:cNvSpPr/>
          <p:nvPr/>
        </p:nvSpPr>
        <p:spPr>
          <a:xfrm>
            <a:off x="9436100" y="2362200"/>
            <a:ext cx="5715000" cy="12700"/>
          </a:xfrm>
          <a:prstGeom prst="roundRect">
            <a:avLst>
              <a:gd name="adj" fmla="val 400000"/>
            </a:avLst>
          </a:prstGeom>
          <a:solidFill>
            <a:srgbClr val="DCE2F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ounded Rectangle 5"/>
          <p:cNvSpPr/>
          <p:nvPr/>
        </p:nvSpPr>
        <p:spPr>
          <a:xfrm>
            <a:off x="9436100" y="2730500"/>
            <a:ext cx="101600" cy="101600"/>
          </a:xfrm>
          <a:prstGeom prst="roundRect">
            <a:avLst>
              <a:gd name="adj" fmla="val 50000"/>
            </a:avLst>
          </a:prstGeom>
          <a:solidFill>
            <a:srgbClr val="4D54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9791700" y="2628900"/>
            <a:ext cx="5384800" cy="393700"/>
          </a:xfrm>
          <a:prstGeom prst="rect">
            <a:avLst/>
          </a:prstGeom>
          <a:noFill/>
        </p:spPr>
        <p:txBody>
          <a:bodyPr wrap="square" lIns="0" rIns="0" tIns="0" bIns="0">
            <a:spAutoFit/>
          </a:bodyPr>
          <a:lstStyle/>
          <a:p>
            <a:pPr algn="l">
              <a:defRPr i="0" sz="2100" b="1">
                <a:solidFill>
                  <a:srgbClr val="000000"/>
                </a:solidFill>
                <a:latin typeface="Albert Sans"/>
              </a:defRPr>
            </a:pPr>
            <a:r>
              <a:rPr i="0" sz="2100" b="1">
                <a:solidFill>
                  <a:srgbClr val="000000"/>
                </a:solidFill>
                <a:latin typeface="Albert Sans"/>
              </a:rPr>
              <a:t>Ethnic &amp; Linguistic Diversity</a:t>
            </a:r>
          </a:p>
        </p:txBody>
      </p:sp>
      <p:sp>
        <p:nvSpPr>
          <p:cNvPr id="8" name="TextBox 7"/>
          <p:cNvSpPr txBox="1"/>
          <p:nvPr/>
        </p:nvSpPr>
        <p:spPr>
          <a:xfrm>
            <a:off x="9791700" y="3073400"/>
            <a:ext cx="5384800" cy="469900"/>
          </a:xfrm>
          <a:prstGeom prst="rect">
            <a:avLst/>
          </a:prstGeom>
          <a:noFill/>
        </p:spPr>
        <p:txBody>
          <a:bodyPr wrap="square" lIns="0" rIns="0" tIns="0" bIns="0">
            <a:spAutoFit/>
          </a:bodyPr>
          <a:lstStyle/>
          <a:p>
            <a:pPr algn="l">
              <a:lnSpc>
                <a:spcPct val="110000"/>
              </a:lnSpc>
              <a:defRPr i="0" sz="1300" b="0">
                <a:solidFill>
                  <a:srgbClr val="4D5463"/>
                </a:solidFill>
                <a:latin typeface="Albert Sans"/>
              </a:defRPr>
            </a:pPr>
            <a:r>
              <a:rPr i="0" sz="1300" b="0">
                <a:solidFill>
                  <a:srgbClr val="4D5463"/>
                </a:solidFill>
                <a:latin typeface="Albert Sans"/>
              </a:rPr>
              <a:t>Over 120 ethnic groups and 123 languages enhance Nepal's cultural landscape.</a:t>
            </a:r>
          </a:p>
        </p:txBody>
      </p:sp>
      <p:sp>
        <p:nvSpPr>
          <p:cNvPr id="9" name="Rounded Rectangle 8"/>
          <p:cNvSpPr/>
          <p:nvPr/>
        </p:nvSpPr>
        <p:spPr>
          <a:xfrm>
            <a:off x="9436100" y="3797300"/>
            <a:ext cx="5715000" cy="12700"/>
          </a:xfrm>
          <a:prstGeom prst="roundRect">
            <a:avLst>
              <a:gd name="adj" fmla="val 400000"/>
            </a:avLst>
          </a:prstGeom>
          <a:solidFill>
            <a:srgbClr val="DCE2F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Rounded Rectangle 9"/>
          <p:cNvSpPr/>
          <p:nvPr/>
        </p:nvSpPr>
        <p:spPr>
          <a:xfrm>
            <a:off x="9436100" y="4165600"/>
            <a:ext cx="101600" cy="101600"/>
          </a:xfrm>
          <a:prstGeom prst="roundRect">
            <a:avLst>
              <a:gd name="adj" fmla="val 50000"/>
            </a:avLst>
          </a:prstGeom>
          <a:solidFill>
            <a:srgbClr val="4D54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9791700" y="4064000"/>
            <a:ext cx="5384800" cy="393700"/>
          </a:xfrm>
          <a:prstGeom prst="rect">
            <a:avLst/>
          </a:prstGeom>
          <a:noFill/>
        </p:spPr>
        <p:txBody>
          <a:bodyPr wrap="square" lIns="0" rIns="0" tIns="0" bIns="0">
            <a:spAutoFit/>
          </a:bodyPr>
          <a:lstStyle/>
          <a:p>
            <a:pPr algn="l">
              <a:defRPr i="0" sz="2100" b="1">
                <a:solidFill>
                  <a:srgbClr val="000000"/>
                </a:solidFill>
                <a:latin typeface="Albert Sans"/>
              </a:defRPr>
            </a:pPr>
            <a:r>
              <a:rPr i="0" sz="2100" b="1">
                <a:solidFill>
                  <a:srgbClr val="000000"/>
                </a:solidFill>
                <a:latin typeface="Albert Sans"/>
              </a:rPr>
              <a:t>Religious Harmony</a:t>
            </a:r>
          </a:p>
        </p:txBody>
      </p:sp>
      <p:sp>
        <p:nvSpPr>
          <p:cNvPr id="12" name="TextBox 11"/>
          <p:cNvSpPr txBox="1"/>
          <p:nvPr/>
        </p:nvSpPr>
        <p:spPr>
          <a:xfrm>
            <a:off x="9791700" y="4508500"/>
            <a:ext cx="5384800" cy="469900"/>
          </a:xfrm>
          <a:prstGeom prst="rect">
            <a:avLst/>
          </a:prstGeom>
          <a:noFill/>
        </p:spPr>
        <p:txBody>
          <a:bodyPr wrap="square" lIns="0" rIns="0" tIns="0" bIns="0">
            <a:spAutoFit/>
          </a:bodyPr>
          <a:lstStyle/>
          <a:p>
            <a:pPr algn="l">
              <a:lnSpc>
                <a:spcPct val="110000"/>
              </a:lnSpc>
              <a:defRPr i="0" sz="1300" b="0">
                <a:solidFill>
                  <a:srgbClr val="4D5463"/>
                </a:solidFill>
                <a:latin typeface="Albert Sans"/>
              </a:defRPr>
            </a:pPr>
            <a:r>
              <a:rPr i="0" sz="1300" b="0">
                <a:solidFill>
                  <a:srgbClr val="4D5463"/>
                </a:solidFill>
                <a:latin typeface="Albert Sans"/>
              </a:rPr>
              <a:t>Hinduism dominates at 81.3%, alongside Buddhism and Islam, fostering spiritual coexistence.</a:t>
            </a:r>
          </a:p>
        </p:txBody>
      </p:sp>
      <p:sp>
        <p:nvSpPr>
          <p:cNvPr id="13" name="Rounded Rectangle 12"/>
          <p:cNvSpPr/>
          <p:nvPr/>
        </p:nvSpPr>
        <p:spPr>
          <a:xfrm>
            <a:off x="9436100" y="5232400"/>
            <a:ext cx="5715000" cy="12700"/>
          </a:xfrm>
          <a:prstGeom prst="roundRect">
            <a:avLst>
              <a:gd name="adj" fmla="val 400000"/>
            </a:avLst>
          </a:prstGeom>
          <a:solidFill>
            <a:srgbClr val="DCE2F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Rounded Rectangle 13"/>
          <p:cNvSpPr/>
          <p:nvPr/>
        </p:nvSpPr>
        <p:spPr>
          <a:xfrm>
            <a:off x="9436100" y="5600700"/>
            <a:ext cx="101600" cy="101600"/>
          </a:xfrm>
          <a:prstGeom prst="roundRect">
            <a:avLst>
              <a:gd name="adj" fmla="val 50000"/>
            </a:avLst>
          </a:prstGeom>
          <a:solidFill>
            <a:srgbClr val="4D54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791700" y="5499100"/>
            <a:ext cx="5384800" cy="393700"/>
          </a:xfrm>
          <a:prstGeom prst="rect">
            <a:avLst/>
          </a:prstGeom>
          <a:noFill/>
        </p:spPr>
        <p:txBody>
          <a:bodyPr wrap="square" lIns="0" rIns="0" tIns="0" bIns="0">
            <a:spAutoFit/>
          </a:bodyPr>
          <a:lstStyle/>
          <a:p>
            <a:pPr algn="l">
              <a:defRPr i="0" sz="2100" b="1">
                <a:solidFill>
                  <a:srgbClr val="000000"/>
                </a:solidFill>
                <a:latin typeface="Albert Sans"/>
              </a:defRPr>
            </a:pPr>
            <a:r>
              <a:rPr i="0" sz="2100" b="1">
                <a:solidFill>
                  <a:srgbClr val="000000"/>
                </a:solidFill>
                <a:latin typeface="Albert Sans"/>
              </a:rPr>
              <a:t>Celebrated Festivals &amp; Heritage</a:t>
            </a:r>
          </a:p>
        </p:txBody>
      </p:sp>
      <p:sp>
        <p:nvSpPr>
          <p:cNvPr id="16" name="TextBox 15"/>
          <p:cNvSpPr txBox="1"/>
          <p:nvPr/>
        </p:nvSpPr>
        <p:spPr>
          <a:xfrm>
            <a:off x="9791700" y="5943600"/>
            <a:ext cx="5384800" cy="469900"/>
          </a:xfrm>
          <a:prstGeom prst="rect">
            <a:avLst/>
          </a:prstGeom>
          <a:noFill/>
        </p:spPr>
        <p:txBody>
          <a:bodyPr wrap="square" lIns="0" rIns="0" tIns="0" bIns="0">
            <a:spAutoFit/>
          </a:bodyPr>
          <a:lstStyle/>
          <a:p>
            <a:pPr algn="l">
              <a:lnSpc>
                <a:spcPct val="110000"/>
              </a:lnSpc>
              <a:defRPr i="0" sz="1300" b="0">
                <a:solidFill>
                  <a:srgbClr val="4D5463"/>
                </a:solidFill>
                <a:latin typeface="Albert Sans"/>
              </a:defRPr>
            </a:pPr>
            <a:r>
              <a:rPr i="0" sz="1300" b="0">
                <a:solidFill>
                  <a:srgbClr val="4D5463"/>
                </a:solidFill>
                <a:latin typeface="Albert Sans"/>
              </a:rPr>
              <a:t>Traditions such as Dashain, Tihar, and Holi, and sites like Kathmandu Durbar Square and Lumbini shape the nation’s identity.</a:t>
            </a:r>
          </a:p>
        </p:txBody>
      </p:sp>
      <p:sp>
        <p:nvSpPr>
          <p:cNvPr id="17" name="Rounded Rectangle 16"/>
          <p:cNvSpPr/>
          <p:nvPr/>
        </p:nvSpPr>
        <p:spPr>
          <a:xfrm>
            <a:off x="9436100" y="6667500"/>
            <a:ext cx="5715000" cy="12700"/>
          </a:xfrm>
          <a:prstGeom prst="roundRect">
            <a:avLst>
              <a:gd name="adj" fmla="val 400000"/>
            </a:avLst>
          </a:prstGeom>
          <a:solidFill>
            <a:srgbClr val="DCE2F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914400" y="8267700"/>
            <a:ext cx="2324100" cy="304800"/>
          </a:xfrm>
          <a:prstGeom prst="rect">
            <a:avLst/>
          </a:prstGeom>
          <a:noFill/>
        </p:spPr>
        <p:txBody>
          <a:bodyPr wrap="square" lIns="0" rIns="0" tIns="0" bIns="0">
            <a:spAutoFit/>
          </a:bodyPr>
          <a:lstStyle/>
          <a:p>
            <a:pPr algn="l">
              <a:defRPr i="0" sz="1600" b="0">
                <a:solidFill>
                  <a:srgbClr val="000000"/>
                </a:solidFill>
                <a:latin typeface="Albert Sans"/>
              </a:defRPr>
            </a:pPr>
            <a:r>
              <a:rPr i="0" sz="1600" b="0">
                <a:solidFill>
                  <a:srgbClr val="000000"/>
                </a:solidFill>
                <a:latin typeface="Albert Sans"/>
              </a:rPr>
              <a:t>www.welcomenepal.com</a:t>
            </a:r>
          </a:p>
        </p:txBody>
      </p:sp>
      <p:sp>
        <p:nvSpPr>
          <p:cNvPr id="19" name="Rounded Rectangle 18"/>
          <p:cNvSpPr/>
          <p:nvPr/>
        </p:nvSpPr>
        <p:spPr>
          <a:xfrm>
            <a:off x="3467100" y="8394700"/>
            <a:ext cx="10693400" cy="38100"/>
          </a:xfrm>
          <a:prstGeom prst="roundRect">
            <a:avLst>
              <a:gd name="adj" fmla="val 133333"/>
            </a:avLst>
          </a:prstGeom>
          <a:solidFill>
            <a:srgbClr val="55626E"/>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0" name="Picture 19" descr="ecdf211f-1974-4438-9abc-b966d394a9b7.png"/>
          <p:cNvPicPr>
            <a:picLocks noChangeAspect="1"/>
          </p:cNvPicPr>
          <p:nvPr/>
        </p:nvPicPr>
        <p:blipFill>
          <a:blip r:embed="rId4"/>
          <a:stretch>
            <a:fillRect/>
          </a:stretch>
        </p:blipFill>
        <p:spPr>
          <a:xfrm>
            <a:off x="14414500" y="8039100"/>
            <a:ext cx="736600" cy="7366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4cc4626d-e599-4e51-b0f1-b091d6de141e.png"/>
          <p:cNvPicPr>
            <a:picLocks noChangeAspect="1"/>
          </p:cNvPicPr>
          <p:nvPr/>
        </p:nvPicPr>
        <p:blipFill>
          <a:blip r:embed="rId3"/>
          <a:stretch>
            <a:fillRect/>
          </a:stretch>
        </p:blipFill>
        <p:spPr>
          <a:xfrm>
            <a:off x="825500" y="2235200"/>
            <a:ext cx="228600" cy="228600"/>
          </a:xfrm>
          <a:prstGeom prst="rect">
            <a:avLst/>
          </a:prstGeom>
        </p:spPr>
      </p:pic>
      <p:sp>
        <p:nvSpPr>
          <p:cNvPr id="3" name="TextBox 2"/>
          <p:cNvSpPr txBox="1"/>
          <p:nvPr/>
        </p:nvSpPr>
        <p:spPr>
          <a:xfrm>
            <a:off x="914400" y="2413000"/>
            <a:ext cx="6083300" cy="1193800"/>
          </a:xfrm>
          <a:prstGeom prst="rect">
            <a:avLst/>
          </a:prstGeom>
          <a:noFill/>
        </p:spPr>
        <p:txBody>
          <a:bodyPr wrap="square" lIns="0" rIns="0" tIns="0" bIns="0">
            <a:spAutoFit/>
          </a:bodyPr>
          <a:lstStyle/>
          <a:p>
            <a:pPr algn="l">
              <a:lnSpc>
                <a:spcPct val="80000"/>
              </a:lnSpc>
              <a:defRPr i="0" sz="4300" b="1">
                <a:solidFill>
                  <a:srgbClr val="000000"/>
                </a:solidFill>
                <a:latin typeface="Albert Sans"/>
              </a:defRPr>
            </a:pPr>
            <a:r>
              <a:rPr i="0" sz="4300" b="1">
                <a:solidFill>
                  <a:srgbClr val="000000"/>
                </a:solidFill>
                <a:latin typeface="Albert Sans"/>
              </a:rPr>
              <a:t>Economy and Tourism Highlights</a:t>
            </a:r>
          </a:p>
        </p:txBody>
      </p:sp>
      <p:sp>
        <p:nvSpPr>
          <p:cNvPr id="4" name="TextBox 3"/>
          <p:cNvSpPr txBox="1"/>
          <p:nvPr/>
        </p:nvSpPr>
        <p:spPr>
          <a:xfrm>
            <a:off x="914400" y="3962400"/>
            <a:ext cx="6083300" cy="1803400"/>
          </a:xfrm>
          <a:prstGeom prst="rect">
            <a:avLst/>
          </a:prstGeom>
          <a:noFill/>
        </p:spPr>
        <p:txBody>
          <a:bodyPr wrap="square" lIns="0" rIns="0" tIns="0" bIns="0">
            <a:spAutoFit/>
          </a:bodyPr>
          <a:lstStyle/>
          <a:p>
            <a:pPr algn="l">
              <a:lnSpc>
                <a:spcPct val="148000"/>
              </a:lnSpc>
              <a:defRPr i="0" sz="1600" b="0">
                <a:solidFill>
                  <a:srgbClr val="000000"/>
                </a:solidFill>
                <a:latin typeface="Albert Sans"/>
              </a:defRPr>
            </a:pPr>
            <a:r>
              <a:rPr i="0" sz="1600" b="0">
                <a:solidFill>
                  <a:srgbClr val="000000"/>
                </a:solidFill>
                <a:latin typeface="Albert Sans"/>
              </a:rPr>
              <a:t>Nepal’s economy, estimated at $41.7B in 2025, relies on agriculture, tourism, remittances, and services. Agriculture drives about 23% of GDP, while tourism welcomes over 1.2M visitors yearly. Notably, the Everest region draws 35K+ trekkers, reinforcing tourism as about 7% of total GDP.</a:t>
            </a:r>
          </a:p>
        </p:txBody>
      </p:sp>
      <p:sp>
        <p:nvSpPr>
          <p:cNvPr id="5" name="Rounded Rectangle 4"/>
          <p:cNvSpPr/>
          <p:nvPr/>
        </p:nvSpPr>
        <p:spPr>
          <a:xfrm>
            <a:off x="9436100" y="2590800"/>
            <a:ext cx="5715000" cy="12700"/>
          </a:xfrm>
          <a:prstGeom prst="roundRect">
            <a:avLst>
              <a:gd name="adj" fmla="val 400000"/>
            </a:avLst>
          </a:prstGeom>
          <a:solidFill>
            <a:srgbClr val="DCE2F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ounded Rectangle 5"/>
          <p:cNvSpPr/>
          <p:nvPr/>
        </p:nvSpPr>
        <p:spPr>
          <a:xfrm>
            <a:off x="9436100" y="2959100"/>
            <a:ext cx="101600" cy="101600"/>
          </a:xfrm>
          <a:prstGeom prst="roundRect">
            <a:avLst>
              <a:gd name="adj" fmla="val 50000"/>
            </a:avLst>
          </a:prstGeom>
          <a:solidFill>
            <a:srgbClr val="4D54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9791700" y="2857500"/>
            <a:ext cx="4076700" cy="393700"/>
          </a:xfrm>
          <a:prstGeom prst="rect">
            <a:avLst/>
          </a:prstGeom>
          <a:noFill/>
        </p:spPr>
        <p:txBody>
          <a:bodyPr wrap="square" lIns="0" rIns="0" tIns="0" bIns="0">
            <a:spAutoFit/>
          </a:bodyPr>
          <a:lstStyle/>
          <a:p>
            <a:pPr algn="l">
              <a:defRPr i="0" sz="2100" b="1">
                <a:solidFill>
                  <a:srgbClr val="000000"/>
                </a:solidFill>
                <a:latin typeface="Albert Sans"/>
              </a:defRPr>
            </a:pPr>
            <a:r>
              <a:rPr i="0" sz="2100" b="1">
                <a:solidFill>
                  <a:srgbClr val="000000"/>
                </a:solidFill>
                <a:latin typeface="Albert Sans"/>
              </a:rPr>
              <a:t>$41.7B Economy</a:t>
            </a:r>
          </a:p>
        </p:txBody>
      </p:sp>
      <p:sp>
        <p:nvSpPr>
          <p:cNvPr id="8" name="TextBox 7"/>
          <p:cNvSpPr txBox="1"/>
          <p:nvPr/>
        </p:nvSpPr>
        <p:spPr>
          <a:xfrm>
            <a:off x="9791700" y="3302000"/>
            <a:ext cx="4076700" cy="228600"/>
          </a:xfrm>
          <a:prstGeom prst="rect">
            <a:avLst/>
          </a:prstGeom>
          <a:noFill/>
        </p:spPr>
        <p:txBody>
          <a:bodyPr wrap="square" lIns="0" rIns="0" tIns="0" bIns="0">
            <a:spAutoFit/>
          </a:bodyPr>
          <a:lstStyle/>
          <a:p>
            <a:pPr algn="l">
              <a:defRPr i="0" sz="1300" b="0">
                <a:solidFill>
                  <a:srgbClr val="4D5463"/>
                </a:solidFill>
                <a:latin typeface="Albert Sans"/>
              </a:defRPr>
            </a:pPr>
            <a:r>
              <a:rPr i="0" sz="1300" b="0">
                <a:solidFill>
                  <a:srgbClr val="4D5463"/>
                </a:solidFill>
                <a:latin typeface="Albert Sans"/>
              </a:rPr>
              <a:t>Diverse sectors strengthen overall economic growth.</a:t>
            </a:r>
          </a:p>
        </p:txBody>
      </p:sp>
      <p:sp>
        <p:nvSpPr>
          <p:cNvPr id="9" name="Rounded Rectangle 8"/>
          <p:cNvSpPr/>
          <p:nvPr/>
        </p:nvSpPr>
        <p:spPr>
          <a:xfrm>
            <a:off x="9436100" y="3797300"/>
            <a:ext cx="5715000" cy="12700"/>
          </a:xfrm>
          <a:prstGeom prst="roundRect">
            <a:avLst>
              <a:gd name="adj" fmla="val 400000"/>
            </a:avLst>
          </a:prstGeom>
          <a:solidFill>
            <a:srgbClr val="DCE2F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Rounded Rectangle 9"/>
          <p:cNvSpPr/>
          <p:nvPr/>
        </p:nvSpPr>
        <p:spPr>
          <a:xfrm>
            <a:off x="9436100" y="4165600"/>
            <a:ext cx="101600" cy="101600"/>
          </a:xfrm>
          <a:prstGeom prst="roundRect">
            <a:avLst>
              <a:gd name="adj" fmla="val 50000"/>
            </a:avLst>
          </a:prstGeom>
          <a:solidFill>
            <a:srgbClr val="4D54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9791700" y="4064000"/>
            <a:ext cx="4445000" cy="393700"/>
          </a:xfrm>
          <a:prstGeom prst="rect">
            <a:avLst/>
          </a:prstGeom>
          <a:noFill/>
        </p:spPr>
        <p:txBody>
          <a:bodyPr wrap="square" lIns="0" rIns="0" tIns="0" bIns="0">
            <a:spAutoFit/>
          </a:bodyPr>
          <a:lstStyle/>
          <a:p>
            <a:pPr algn="l">
              <a:defRPr i="0" sz="2100" b="1">
                <a:solidFill>
                  <a:srgbClr val="000000"/>
                </a:solidFill>
                <a:latin typeface="Albert Sans"/>
              </a:defRPr>
            </a:pPr>
            <a:r>
              <a:rPr i="0" sz="2100" b="1">
                <a:solidFill>
                  <a:srgbClr val="000000"/>
                </a:solidFill>
                <a:latin typeface="Albert Sans"/>
              </a:rPr>
              <a:t>Agriculture at 23% of GDP</a:t>
            </a:r>
          </a:p>
        </p:txBody>
      </p:sp>
      <p:sp>
        <p:nvSpPr>
          <p:cNvPr id="12" name="TextBox 11"/>
          <p:cNvSpPr txBox="1"/>
          <p:nvPr/>
        </p:nvSpPr>
        <p:spPr>
          <a:xfrm>
            <a:off x="9791700" y="4508500"/>
            <a:ext cx="4445000" cy="228600"/>
          </a:xfrm>
          <a:prstGeom prst="rect">
            <a:avLst/>
          </a:prstGeom>
          <a:noFill/>
        </p:spPr>
        <p:txBody>
          <a:bodyPr wrap="square" lIns="0" rIns="0" tIns="0" bIns="0">
            <a:spAutoFit/>
          </a:bodyPr>
          <a:lstStyle/>
          <a:p>
            <a:pPr algn="l">
              <a:defRPr i="0" sz="1300" b="0">
                <a:solidFill>
                  <a:srgbClr val="4D5463"/>
                </a:solidFill>
                <a:latin typeface="Albert Sans"/>
              </a:defRPr>
            </a:pPr>
            <a:r>
              <a:rPr i="0" sz="1300" b="0">
                <a:solidFill>
                  <a:srgbClr val="4D5463"/>
                </a:solidFill>
                <a:latin typeface="Albert Sans"/>
              </a:rPr>
              <a:t>Farming remains a primary livelihood and economic base.</a:t>
            </a:r>
          </a:p>
        </p:txBody>
      </p:sp>
      <p:sp>
        <p:nvSpPr>
          <p:cNvPr id="13" name="Rounded Rectangle 12"/>
          <p:cNvSpPr/>
          <p:nvPr/>
        </p:nvSpPr>
        <p:spPr>
          <a:xfrm>
            <a:off x="9436100" y="4991100"/>
            <a:ext cx="5715000" cy="12700"/>
          </a:xfrm>
          <a:prstGeom prst="roundRect">
            <a:avLst>
              <a:gd name="adj" fmla="val 400000"/>
            </a:avLst>
          </a:prstGeom>
          <a:solidFill>
            <a:srgbClr val="DCE2F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Rounded Rectangle 13"/>
          <p:cNvSpPr/>
          <p:nvPr/>
        </p:nvSpPr>
        <p:spPr>
          <a:xfrm>
            <a:off x="9436100" y="5359400"/>
            <a:ext cx="101600" cy="101600"/>
          </a:xfrm>
          <a:prstGeom prst="roundRect">
            <a:avLst>
              <a:gd name="adj" fmla="val 50000"/>
            </a:avLst>
          </a:prstGeom>
          <a:solidFill>
            <a:srgbClr val="4D54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791700" y="5257800"/>
            <a:ext cx="5384800" cy="393700"/>
          </a:xfrm>
          <a:prstGeom prst="rect">
            <a:avLst/>
          </a:prstGeom>
          <a:noFill/>
        </p:spPr>
        <p:txBody>
          <a:bodyPr wrap="square" lIns="0" rIns="0" tIns="0" bIns="0">
            <a:spAutoFit/>
          </a:bodyPr>
          <a:lstStyle/>
          <a:p>
            <a:pPr algn="l">
              <a:defRPr i="0" sz="2100" b="1">
                <a:solidFill>
                  <a:srgbClr val="000000"/>
                </a:solidFill>
                <a:latin typeface="Albert Sans"/>
              </a:defRPr>
            </a:pPr>
            <a:r>
              <a:rPr i="0" sz="2100" b="1">
                <a:solidFill>
                  <a:srgbClr val="000000"/>
                </a:solidFill>
                <a:latin typeface="Albert Sans"/>
              </a:rPr>
              <a:t>Tourism’s Impact</a:t>
            </a:r>
          </a:p>
        </p:txBody>
      </p:sp>
      <p:sp>
        <p:nvSpPr>
          <p:cNvPr id="16" name="TextBox 15"/>
          <p:cNvSpPr txBox="1"/>
          <p:nvPr/>
        </p:nvSpPr>
        <p:spPr>
          <a:xfrm>
            <a:off x="9791700" y="5702300"/>
            <a:ext cx="5384800" cy="469900"/>
          </a:xfrm>
          <a:prstGeom prst="rect">
            <a:avLst/>
          </a:prstGeom>
          <a:noFill/>
        </p:spPr>
        <p:txBody>
          <a:bodyPr wrap="square" lIns="0" rIns="0" tIns="0" bIns="0">
            <a:spAutoFit/>
          </a:bodyPr>
          <a:lstStyle/>
          <a:p>
            <a:pPr algn="l">
              <a:lnSpc>
                <a:spcPct val="110000"/>
              </a:lnSpc>
              <a:defRPr i="0" sz="1300" b="0">
                <a:solidFill>
                  <a:srgbClr val="4D5463"/>
                </a:solidFill>
                <a:latin typeface="Albert Sans"/>
              </a:defRPr>
            </a:pPr>
            <a:r>
              <a:rPr i="0" sz="1300" b="0">
                <a:solidFill>
                  <a:srgbClr val="4D5463"/>
                </a:solidFill>
                <a:latin typeface="Albert Sans"/>
              </a:rPr>
              <a:t>1.2M+ tourists yearly; Everest region key destination; sector drives 7% of GDP.</a:t>
            </a:r>
          </a:p>
        </p:txBody>
      </p:sp>
      <p:sp>
        <p:nvSpPr>
          <p:cNvPr id="17" name="Rounded Rectangle 16"/>
          <p:cNvSpPr/>
          <p:nvPr/>
        </p:nvSpPr>
        <p:spPr>
          <a:xfrm>
            <a:off x="9436100" y="6426200"/>
            <a:ext cx="5715000" cy="12700"/>
          </a:xfrm>
          <a:prstGeom prst="roundRect">
            <a:avLst>
              <a:gd name="adj" fmla="val 400000"/>
            </a:avLst>
          </a:prstGeom>
          <a:solidFill>
            <a:srgbClr val="DCE2F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914400" y="8267700"/>
            <a:ext cx="1701800" cy="304800"/>
          </a:xfrm>
          <a:prstGeom prst="rect">
            <a:avLst/>
          </a:prstGeom>
          <a:noFill/>
        </p:spPr>
        <p:txBody>
          <a:bodyPr wrap="square" lIns="0" rIns="0" tIns="0" bIns="0">
            <a:spAutoFit/>
          </a:bodyPr>
          <a:lstStyle/>
          <a:p>
            <a:pPr algn="l">
              <a:defRPr i="0" sz="1600" b="0">
                <a:solidFill>
                  <a:srgbClr val="000000"/>
                </a:solidFill>
                <a:latin typeface="Albert Sans"/>
              </a:defRPr>
            </a:pPr>
            <a:r>
              <a:rPr i="0" sz="1600" b="0">
                <a:solidFill>
                  <a:srgbClr val="000000"/>
                </a:solidFill>
                <a:latin typeface="Albert Sans"/>
              </a:rPr>
              <a:t>www.nepal.gov.np</a:t>
            </a:r>
          </a:p>
        </p:txBody>
      </p:sp>
      <p:sp>
        <p:nvSpPr>
          <p:cNvPr id="19" name="Rounded Rectangle 18"/>
          <p:cNvSpPr/>
          <p:nvPr/>
        </p:nvSpPr>
        <p:spPr>
          <a:xfrm>
            <a:off x="2844800" y="8394700"/>
            <a:ext cx="11315700" cy="38100"/>
          </a:xfrm>
          <a:prstGeom prst="roundRect">
            <a:avLst>
              <a:gd name="adj" fmla="val 133333"/>
            </a:avLst>
          </a:prstGeom>
          <a:solidFill>
            <a:srgbClr val="55626E"/>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0" name="Picture 19" descr="ecdf211f-1974-4438-9abc-b966d394a9b7.png"/>
          <p:cNvPicPr>
            <a:picLocks noChangeAspect="1"/>
          </p:cNvPicPr>
          <p:nvPr/>
        </p:nvPicPr>
        <p:blipFill>
          <a:blip r:embed="rId4"/>
          <a:stretch>
            <a:fillRect/>
          </a:stretch>
        </p:blipFill>
        <p:spPr>
          <a:xfrm>
            <a:off x="14414500" y="8039100"/>
            <a:ext cx="736600" cy="7366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4cc4626d-e599-4e51-b0f1-b091d6de141e.png"/>
          <p:cNvPicPr>
            <a:picLocks noChangeAspect="1"/>
          </p:cNvPicPr>
          <p:nvPr/>
        </p:nvPicPr>
        <p:blipFill>
          <a:blip r:embed="rId3"/>
          <a:stretch>
            <a:fillRect/>
          </a:stretch>
        </p:blipFill>
        <p:spPr>
          <a:xfrm>
            <a:off x="825500" y="2235200"/>
            <a:ext cx="228600" cy="228600"/>
          </a:xfrm>
          <a:prstGeom prst="rect">
            <a:avLst/>
          </a:prstGeom>
        </p:spPr>
      </p:pic>
      <p:sp>
        <p:nvSpPr>
          <p:cNvPr id="3" name="TextBox 2"/>
          <p:cNvSpPr txBox="1"/>
          <p:nvPr/>
        </p:nvSpPr>
        <p:spPr>
          <a:xfrm>
            <a:off x="914400" y="2413000"/>
            <a:ext cx="6083300" cy="596900"/>
          </a:xfrm>
          <a:prstGeom prst="rect">
            <a:avLst/>
          </a:prstGeom>
          <a:noFill/>
        </p:spPr>
        <p:txBody>
          <a:bodyPr wrap="square" lIns="0" rIns="0" tIns="0" bIns="0">
            <a:spAutoFit/>
          </a:bodyPr>
          <a:lstStyle/>
          <a:p>
            <a:pPr algn="l">
              <a:lnSpc>
                <a:spcPct val="80000"/>
              </a:lnSpc>
              <a:defRPr i="0" sz="4300" b="1">
                <a:solidFill>
                  <a:srgbClr val="000000"/>
                </a:solidFill>
                <a:latin typeface="Albert Sans"/>
              </a:defRPr>
            </a:pPr>
            <a:r>
              <a:rPr i="0" sz="4300" b="1">
                <a:solidFill>
                  <a:srgbClr val="000000"/>
                </a:solidFill>
                <a:latin typeface="Albert Sans"/>
              </a:rPr>
              <a:t>Why Nepal is Cool</a:t>
            </a:r>
          </a:p>
        </p:txBody>
      </p:sp>
      <p:sp>
        <p:nvSpPr>
          <p:cNvPr id="4" name="TextBox 3"/>
          <p:cNvSpPr txBox="1"/>
          <p:nvPr/>
        </p:nvSpPr>
        <p:spPr>
          <a:xfrm>
            <a:off x="914400" y="3365500"/>
            <a:ext cx="6083300" cy="723900"/>
          </a:xfrm>
          <a:prstGeom prst="rect">
            <a:avLst/>
          </a:prstGeom>
          <a:noFill/>
        </p:spPr>
        <p:txBody>
          <a:bodyPr wrap="square" lIns="0" rIns="0" tIns="0" bIns="0">
            <a:spAutoFit/>
          </a:bodyPr>
          <a:lstStyle/>
          <a:p>
            <a:pPr algn="l">
              <a:lnSpc>
                <a:spcPct val="148000"/>
              </a:lnSpc>
              <a:defRPr i="0" sz="1600" b="0">
                <a:solidFill>
                  <a:srgbClr val="000000"/>
                </a:solidFill>
                <a:latin typeface="Albert Sans"/>
              </a:defRPr>
            </a:pPr>
            <a:r>
              <a:rPr i="0" sz="1600" b="0">
                <a:solidFill>
                  <a:srgbClr val="000000"/>
                </a:solidFill>
                <a:latin typeface="Albert Sans"/>
              </a:rPr>
              <a:t>Nepal captivates with its majestic peaks, vibrant traditions, and a modern spirit of progress.</a:t>
            </a:r>
          </a:p>
        </p:txBody>
      </p:sp>
      <p:sp>
        <p:nvSpPr>
          <p:cNvPr id="5" name="Rounded Rectangle 4"/>
          <p:cNvSpPr/>
          <p:nvPr/>
        </p:nvSpPr>
        <p:spPr>
          <a:xfrm>
            <a:off x="9436100" y="1397000"/>
            <a:ext cx="5715000" cy="12700"/>
          </a:xfrm>
          <a:prstGeom prst="roundRect">
            <a:avLst>
              <a:gd name="adj" fmla="val 400000"/>
            </a:avLst>
          </a:prstGeom>
          <a:solidFill>
            <a:srgbClr val="DCE2F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ounded Rectangle 5"/>
          <p:cNvSpPr/>
          <p:nvPr/>
        </p:nvSpPr>
        <p:spPr>
          <a:xfrm>
            <a:off x="9436100" y="1765300"/>
            <a:ext cx="101600" cy="101600"/>
          </a:xfrm>
          <a:prstGeom prst="roundRect">
            <a:avLst>
              <a:gd name="adj" fmla="val 50000"/>
            </a:avLst>
          </a:prstGeom>
          <a:solidFill>
            <a:srgbClr val="4D54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9791700" y="1663700"/>
            <a:ext cx="4483100" cy="393700"/>
          </a:xfrm>
          <a:prstGeom prst="rect">
            <a:avLst/>
          </a:prstGeom>
          <a:noFill/>
        </p:spPr>
        <p:txBody>
          <a:bodyPr wrap="square" lIns="0" rIns="0" tIns="0" bIns="0">
            <a:spAutoFit/>
          </a:bodyPr>
          <a:lstStyle/>
          <a:p>
            <a:pPr algn="l">
              <a:defRPr i="0" sz="2100" b="1">
                <a:solidFill>
                  <a:srgbClr val="000000"/>
                </a:solidFill>
                <a:latin typeface="Albert Sans"/>
              </a:defRPr>
            </a:pPr>
            <a:r>
              <a:rPr i="0" sz="2100" b="1">
                <a:solidFill>
                  <a:srgbClr val="000000"/>
                </a:solidFill>
                <a:latin typeface="Albert Sans"/>
              </a:rPr>
              <a:t>Unmatched Heights</a:t>
            </a:r>
          </a:p>
        </p:txBody>
      </p:sp>
      <p:sp>
        <p:nvSpPr>
          <p:cNvPr id="8" name="TextBox 7"/>
          <p:cNvSpPr txBox="1"/>
          <p:nvPr/>
        </p:nvSpPr>
        <p:spPr>
          <a:xfrm>
            <a:off x="9791700" y="2108200"/>
            <a:ext cx="4483100" cy="228600"/>
          </a:xfrm>
          <a:prstGeom prst="rect">
            <a:avLst/>
          </a:prstGeom>
          <a:noFill/>
        </p:spPr>
        <p:txBody>
          <a:bodyPr wrap="square" lIns="0" rIns="0" tIns="0" bIns="0">
            <a:spAutoFit/>
          </a:bodyPr>
          <a:lstStyle/>
          <a:p>
            <a:pPr algn="l">
              <a:defRPr i="0" sz="1300" b="0">
                <a:solidFill>
                  <a:srgbClr val="4D5463"/>
                </a:solidFill>
                <a:latin typeface="Albert Sans"/>
              </a:defRPr>
            </a:pPr>
            <a:r>
              <a:rPr i="0" sz="1300" b="0">
                <a:solidFill>
                  <a:srgbClr val="4D5463"/>
                </a:solidFill>
                <a:latin typeface="Albert Sans"/>
              </a:rPr>
              <a:t>Host to 8 of the world's 14 tallest peaks, including Everest.</a:t>
            </a:r>
          </a:p>
        </p:txBody>
      </p:sp>
      <p:sp>
        <p:nvSpPr>
          <p:cNvPr id="9" name="Rounded Rectangle 8"/>
          <p:cNvSpPr/>
          <p:nvPr/>
        </p:nvSpPr>
        <p:spPr>
          <a:xfrm>
            <a:off x="9436100" y="2590800"/>
            <a:ext cx="5715000" cy="12700"/>
          </a:xfrm>
          <a:prstGeom prst="roundRect">
            <a:avLst>
              <a:gd name="adj" fmla="val 400000"/>
            </a:avLst>
          </a:prstGeom>
          <a:solidFill>
            <a:srgbClr val="DCE2F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Rounded Rectangle 9"/>
          <p:cNvSpPr/>
          <p:nvPr/>
        </p:nvSpPr>
        <p:spPr>
          <a:xfrm>
            <a:off x="9436100" y="2959100"/>
            <a:ext cx="101600" cy="101600"/>
          </a:xfrm>
          <a:prstGeom prst="roundRect">
            <a:avLst>
              <a:gd name="adj" fmla="val 50000"/>
            </a:avLst>
          </a:prstGeom>
          <a:solidFill>
            <a:srgbClr val="4D54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9791700" y="2857500"/>
            <a:ext cx="4889500" cy="393700"/>
          </a:xfrm>
          <a:prstGeom prst="rect">
            <a:avLst/>
          </a:prstGeom>
          <a:noFill/>
        </p:spPr>
        <p:txBody>
          <a:bodyPr wrap="square" lIns="0" rIns="0" tIns="0" bIns="0">
            <a:spAutoFit/>
          </a:bodyPr>
          <a:lstStyle/>
          <a:p>
            <a:pPr algn="l">
              <a:defRPr i="0" sz="2100" b="1">
                <a:solidFill>
                  <a:srgbClr val="000000"/>
                </a:solidFill>
                <a:latin typeface="Albert Sans"/>
              </a:defRPr>
            </a:pPr>
            <a:r>
              <a:rPr i="0" sz="2100" b="1">
                <a:solidFill>
                  <a:srgbClr val="000000"/>
                </a:solidFill>
                <a:latin typeface="Albert Sans"/>
              </a:rPr>
              <a:t>Adventure Meets Spirituality</a:t>
            </a:r>
          </a:p>
        </p:txBody>
      </p:sp>
      <p:sp>
        <p:nvSpPr>
          <p:cNvPr id="12" name="TextBox 11"/>
          <p:cNvSpPr txBox="1"/>
          <p:nvPr/>
        </p:nvSpPr>
        <p:spPr>
          <a:xfrm>
            <a:off x="9791700" y="3302000"/>
            <a:ext cx="4889500" cy="228600"/>
          </a:xfrm>
          <a:prstGeom prst="rect">
            <a:avLst/>
          </a:prstGeom>
          <a:noFill/>
        </p:spPr>
        <p:txBody>
          <a:bodyPr wrap="square" lIns="0" rIns="0" tIns="0" bIns="0">
            <a:spAutoFit/>
          </a:bodyPr>
          <a:lstStyle/>
          <a:p>
            <a:pPr algn="l">
              <a:defRPr i="0" sz="1300" b="0">
                <a:solidFill>
                  <a:srgbClr val="4D5463"/>
                </a:solidFill>
                <a:latin typeface="Albert Sans"/>
              </a:defRPr>
            </a:pPr>
            <a:r>
              <a:rPr i="0" sz="1300" b="0">
                <a:solidFill>
                  <a:srgbClr val="4D5463"/>
                </a:solidFill>
                <a:latin typeface="Albert Sans"/>
              </a:rPr>
              <a:t>Offers thrilling outdoor experiences and deep spiritual heritage.</a:t>
            </a:r>
          </a:p>
        </p:txBody>
      </p:sp>
      <p:sp>
        <p:nvSpPr>
          <p:cNvPr id="13" name="Rounded Rectangle 12"/>
          <p:cNvSpPr/>
          <p:nvPr/>
        </p:nvSpPr>
        <p:spPr>
          <a:xfrm>
            <a:off x="9436100" y="3797300"/>
            <a:ext cx="5715000" cy="12700"/>
          </a:xfrm>
          <a:prstGeom prst="roundRect">
            <a:avLst>
              <a:gd name="adj" fmla="val 400000"/>
            </a:avLst>
          </a:prstGeom>
          <a:solidFill>
            <a:srgbClr val="DCE2F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Rounded Rectangle 13"/>
          <p:cNvSpPr/>
          <p:nvPr/>
        </p:nvSpPr>
        <p:spPr>
          <a:xfrm>
            <a:off x="9436100" y="4165600"/>
            <a:ext cx="101600" cy="101600"/>
          </a:xfrm>
          <a:prstGeom prst="roundRect">
            <a:avLst>
              <a:gd name="adj" fmla="val 50000"/>
            </a:avLst>
          </a:prstGeom>
          <a:solidFill>
            <a:srgbClr val="4D54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791700" y="4064000"/>
            <a:ext cx="5384800" cy="393700"/>
          </a:xfrm>
          <a:prstGeom prst="rect">
            <a:avLst/>
          </a:prstGeom>
          <a:noFill/>
        </p:spPr>
        <p:txBody>
          <a:bodyPr wrap="square" lIns="0" rIns="0" tIns="0" bIns="0">
            <a:spAutoFit/>
          </a:bodyPr>
          <a:lstStyle/>
          <a:p>
            <a:pPr algn="l">
              <a:defRPr i="0" sz="2100" b="1">
                <a:solidFill>
                  <a:srgbClr val="000000"/>
                </a:solidFill>
                <a:latin typeface="Albert Sans"/>
              </a:defRPr>
            </a:pPr>
            <a:r>
              <a:rPr i="0" sz="2100" b="1">
                <a:solidFill>
                  <a:srgbClr val="000000"/>
                </a:solidFill>
                <a:latin typeface="Albert Sans"/>
              </a:rPr>
              <a:t>Warm Culture</a:t>
            </a:r>
          </a:p>
        </p:txBody>
      </p:sp>
      <p:sp>
        <p:nvSpPr>
          <p:cNvPr id="16" name="TextBox 15"/>
          <p:cNvSpPr txBox="1"/>
          <p:nvPr/>
        </p:nvSpPr>
        <p:spPr>
          <a:xfrm>
            <a:off x="9791700" y="4508500"/>
            <a:ext cx="5384800" cy="469900"/>
          </a:xfrm>
          <a:prstGeom prst="rect">
            <a:avLst/>
          </a:prstGeom>
          <a:noFill/>
        </p:spPr>
        <p:txBody>
          <a:bodyPr wrap="square" lIns="0" rIns="0" tIns="0" bIns="0">
            <a:spAutoFit/>
          </a:bodyPr>
          <a:lstStyle/>
          <a:p>
            <a:pPr algn="l">
              <a:lnSpc>
                <a:spcPct val="110000"/>
              </a:lnSpc>
              <a:defRPr i="0" sz="1300" b="0">
                <a:solidFill>
                  <a:srgbClr val="4D5463"/>
                </a:solidFill>
                <a:latin typeface="Albert Sans"/>
              </a:defRPr>
            </a:pPr>
            <a:r>
              <a:rPr i="0" sz="1300" b="0">
                <a:solidFill>
                  <a:srgbClr val="4D5463"/>
                </a:solidFill>
                <a:latin typeface="Albert Sans"/>
              </a:rPr>
              <a:t>Embraces visitors with rich traditions, diverse cuisines, and genuine hospitality.</a:t>
            </a:r>
          </a:p>
        </p:txBody>
      </p:sp>
      <p:sp>
        <p:nvSpPr>
          <p:cNvPr id="17" name="Rounded Rectangle 16"/>
          <p:cNvSpPr/>
          <p:nvPr/>
        </p:nvSpPr>
        <p:spPr>
          <a:xfrm>
            <a:off x="9436100" y="5232400"/>
            <a:ext cx="5715000" cy="12700"/>
          </a:xfrm>
          <a:prstGeom prst="roundRect">
            <a:avLst>
              <a:gd name="adj" fmla="val 400000"/>
            </a:avLst>
          </a:prstGeom>
          <a:solidFill>
            <a:srgbClr val="DCE2F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ounded Rectangle 17"/>
          <p:cNvSpPr/>
          <p:nvPr/>
        </p:nvSpPr>
        <p:spPr>
          <a:xfrm>
            <a:off x="9436100" y="5600700"/>
            <a:ext cx="101600" cy="101600"/>
          </a:xfrm>
          <a:prstGeom prst="roundRect">
            <a:avLst>
              <a:gd name="adj" fmla="val 50000"/>
            </a:avLst>
          </a:prstGeom>
          <a:solidFill>
            <a:srgbClr val="4D54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TextBox 18"/>
          <p:cNvSpPr txBox="1"/>
          <p:nvPr/>
        </p:nvSpPr>
        <p:spPr>
          <a:xfrm>
            <a:off x="9791700" y="5499100"/>
            <a:ext cx="4686300" cy="393700"/>
          </a:xfrm>
          <a:prstGeom prst="rect">
            <a:avLst/>
          </a:prstGeom>
          <a:noFill/>
        </p:spPr>
        <p:txBody>
          <a:bodyPr wrap="square" lIns="0" rIns="0" tIns="0" bIns="0">
            <a:spAutoFit/>
          </a:bodyPr>
          <a:lstStyle/>
          <a:p>
            <a:pPr algn="l">
              <a:defRPr i="0" sz="2100" b="1">
                <a:solidFill>
                  <a:srgbClr val="000000"/>
                </a:solidFill>
                <a:latin typeface="Albert Sans"/>
              </a:defRPr>
            </a:pPr>
            <a:r>
              <a:rPr i="0" sz="2100" b="1">
                <a:solidFill>
                  <a:srgbClr val="000000"/>
                </a:solidFill>
                <a:latin typeface="Albert Sans"/>
              </a:rPr>
              <a:t>Modern Progress</a:t>
            </a:r>
          </a:p>
        </p:txBody>
      </p:sp>
      <p:sp>
        <p:nvSpPr>
          <p:cNvPr id="20" name="TextBox 19"/>
          <p:cNvSpPr txBox="1"/>
          <p:nvPr/>
        </p:nvSpPr>
        <p:spPr>
          <a:xfrm>
            <a:off x="9791700" y="5943600"/>
            <a:ext cx="4686300" cy="228600"/>
          </a:xfrm>
          <a:prstGeom prst="rect">
            <a:avLst/>
          </a:prstGeom>
          <a:noFill/>
        </p:spPr>
        <p:txBody>
          <a:bodyPr wrap="square" lIns="0" rIns="0" tIns="0" bIns="0">
            <a:spAutoFit/>
          </a:bodyPr>
          <a:lstStyle/>
          <a:p>
            <a:pPr algn="l">
              <a:defRPr i="0" sz="1300" b="0">
                <a:solidFill>
                  <a:srgbClr val="4D5463"/>
                </a:solidFill>
                <a:latin typeface="Albert Sans"/>
              </a:defRPr>
            </a:pPr>
            <a:r>
              <a:rPr i="0" sz="1300" b="0">
                <a:solidFill>
                  <a:srgbClr val="4D5463"/>
                </a:solidFill>
                <a:latin typeface="Albert Sans"/>
              </a:rPr>
              <a:t>Over 90% electrification with digital reach expanding rapidly.</a:t>
            </a:r>
          </a:p>
        </p:txBody>
      </p:sp>
      <p:sp>
        <p:nvSpPr>
          <p:cNvPr id="21" name="Rounded Rectangle 20"/>
          <p:cNvSpPr/>
          <p:nvPr/>
        </p:nvSpPr>
        <p:spPr>
          <a:xfrm>
            <a:off x="9436100" y="6426200"/>
            <a:ext cx="5715000" cy="12700"/>
          </a:xfrm>
          <a:prstGeom prst="roundRect">
            <a:avLst>
              <a:gd name="adj" fmla="val 400000"/>
            </a:avLst>
          </a:prstGeom>
          <a:solidFill>
            <a:srgbClr val="DCE2F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Rounded Rectangle 21"/>
          <p:cNvSpPr/>
          <p:nvPr/>
        </p:nvSpPr>
        <p:spPr>
          <a:xfrm>
            <a:off x="9436100" y="6794500"/>
            <a:ext cx="101600" cy="101600"/>
          </a:xfrm>
          <a:prstGeom prst="roundRect">
            <a:avLst>
              <a:gd name="adj" fmla="val 50000"/>
            </a:avLst>
          </a:prstGeom>
          <a:solidFill>
            <a:srgbClr val="4D54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3" name="TextBox 22"/>
          <p:cNvSpPr txBox="1"/>
          <p:nvPr/>
        </p:nvSpPr>
        <p:spPr>
          <a:xfrm>
            <a:off x="9791700" y="6692900"/>
            <a:ext cx="3454400" cy="393700"/>
          </a:xfrm>
          <a:prstGeom prst="rect">
            <a:avLst/>
          </a:prstGeom>
          <a:noFill/>
        </p:spPr>
        <p:txBody>
          <a:bodyPr wrap="square" lIns="0" rIns="0" tIns="0" bIns="0">
            <a:spAutoFit/>
          </a:bodyPr>
          <a:lstStyle/>
          <a:p>
            <a:pPr algn="l">
              <a:defRPr i="0" sz="2100" b="1">
                <a:solidFill>
                  <a:srgbClr val="000000"/>
                </a:solidFill>
                <a:latin typeface="Albert Sans"/>
              </a:defRPr>
            </a:pPr>
            <a:r>
              <a:rPr i="0" sz="2100" b="1">
                <a:solidFill>
                  <a:srgbClr val="000000"/>
                </a:solidFill>
                <a:latin typeface="Albert Sans"/>
              </a:rPr>
              <a:t>Resilient Spirit</a:t>
            </a:r>
          </a:p>
        </p:txBody>
      </p:sp>
      <p:sp>
        <p:nvSpPr>
          <p:cNvPr id="24" name="TextBox 23"/>
          <p:cNvSpPr txBox="1"/>
          <p:nvPr/>
        </p:nvSpPr>
        <p:spPr>
          <a:xfrm>
            <a:off x="9791700" y="7137400"/>
            <a:ext cx="3454400" cy="228600"/>
          </a:xfrm>
          <a:prstGeom prst="rect">
            <a:avLst/>
          </a:prstGeom>
          <a:noFill/>
        </p:spPr>
        <p:txBody>
          <a:bodyPr wrap="square" lIns="0" rIns="0" tIns="0" bIns="0">
            <a:spAutoFit/>
          </a:bodyPr>
          <a:lstStyle/>
          <a:p>
            <a:pPr algn="l">
              <a:defRPr i="0" sz="1300" b="0">
                <a:solidFill>
                  <a:srgbClr val="4D5463"/>
                </a:solidFill>
                <a:latin typeface="Albert Sans"/>
              </a:defRPr>
            </a:pPr>
            <a:r>
              <a:rPr i="0" sz="1300" b="0">
                <a:solidFill>
                  <a:srgbClr val="4D5463"/>
                </a:solidFill>
                <a:latin typeface="Albert Sans"/>
              </a:rPr>
              <a:t>Globally admired for kindness and resilience.</a:t>
            </a:r>
          </a:p>
        </p:txBody>
      </p:sp>
      <p:sp>
        <p:nvSpPr>
          <p:cNvPr id="25" name="Rounded Rectangle 24"/>
          <p:cNvSpPr/>
          <p:nvPr/>
        </p:nvSpPr>
        <p:spPr>
          <a:xfrm>
            <a:off x="9436100" y="7620000"/>
            <a:ext cx="5715000" cy="12700"/>
          </a:xfrm>
          <a:prstGeom prst="roundRect">
            <a:avLst>
              <a:gd name="adj" fmla="val 400000"/>
            </a:avLst>
          </a:prstGeom>
          <a:solidFill>
            <a:srgbClr val="DCE2F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TextBox 25"/>
          <p:cNvSpPr txBox="1"/>
          <p:nvPr/>
        </p:nvSpPr>
        <p:spPr>
          <a:xfrm>
            <a:off x="914400" y="8267700"/>
            <a:ext cx="2324100" cy="304800"/>
          </a:xfrm>
          <a:prstGeom prst="rect">
            <a:avLst/>
          </a:prstGeom>
          <a:noFill/>
        </p:spPr>
        <p:txBody>
          <a:bodyPr wrap="square" lIns="0" rIns="0" tIns="0" bIns="0">
            <a:spAutoFit/>
          </a:bodyPr>
          <a:lstStyle/>
          <a:p>
            <a:pPr algn="l">
              <a:defRPr i="0" sz="1600" b="0">
                <a:solidFill>
                  <a:srgbClr val="000000"/>
                </a:solidFill>
                <a:latin typeface="Albert Sans"/>
              </a:defRPr>
            </a:pPr>
            <a:r>
              <a:rPr i="0" sz="1600" b="0">
                <a:solidFill>
                  <a:srgbClr val="000000"/>
                </a:solidFill>
                <a:latin typeface="Albert Sans"/>
              </a:rPr>
              <a:t>www.welcomenepal.com</a:t>
            </a:r>
          </a:p>
        </p:txBody>
      </p:sp>
      <p:sp>
        <p:nvSpPr>
          <p:cNvPr id="27" name="Rounded Rectangle 26"/>
          <p:cNvSpPr/>
          <p:nvPr/>
        </p:nvSpPr>
        <p:spPr>
          <a:xfrm>
            <a:off x="3467100" y="8394700"/>
            <a:ext cx="10693400" cy="38100"/>
          </a:xfrm>
          <a:prstGeom prst="roundRect">
            <a:avLst>
              <a:gd name="adj" fmla="val 133333"/>
            </a:avLst>
          </a:prstGeom>
          <a:solidFill>
            <a:srgbClr val="55626E"/>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8" name="Picture 27" descr="ecdf211f-1974-4438-9abc-b966d394a9b7.png"/>
          <p:cNvPicPr>
            <a:picLocks noChangeAspect="1"/>
          </p:cNvPicPr>
          <p:nvPr/>
        </p:nvPicPr>
        <p:blipFill>
          <a:blip r:embed="rId4"/>
          <a:stretch>
            <a:fillRect/>
          </a:stretch>
        </p:blipFill>
        <p:spPr>
          <a:xfrm>
            <a:off x="14414500" y="8039100"/>
            <a:ext cx="736600" cy="736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